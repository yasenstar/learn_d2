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2"/>
  </p:notesMasterIdLst>
  <p:handoutMasterIdLst>
    <p:handoutMasterId r:id="rId43"/>
  </p:handoutMasterIdLst>
  <p:sldIdLst>
    <p:sldId id="256" r:id="rId5"/>
    <p:sldId id="265" r:id="rId6"/>
    <p:sldId id="267" r:id="rId7"/>
    <p:sldId id="268" r:id="rId8"/>
    <p:sldId id="269" r:id="rId9"/>
    <p:sldId id="270" r:id="rId10"/>
    <p:sldId id="272" r:id="rId11"/>
    <p:sldId id="271" r:id="rId12"/>
    <p:sldId id="273" r:id="rId13"/>
    <p:sldId id="274" r:id="rId14"/>
    <p:sldId id="275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83" r:id="rId23"/>
    <p:sldId id="284" r:id="rId24"/>
    <p:sldId id="285" r:id="rId25"/>
    <p:sldId id="286" r:id="rId26"/>
    <p:sldId id="287" r:id="rId27"/>
    <p:sldId id="299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7" r:id="rId38"/>
    <p:sldId id="298" r:id="rId39"/>
    <p:sldId id="300" r:id="rId40"/>
    <p:sldId id="266" r:id="rId41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B8B73B5-928A-4CF9-AC10-8068C4372E93}">
          <p14:sldIdLst>
            <p14:sldId id="256"/>
            <p14:sldId id="265"/>
          </p14:sldIdLst>
        </p14:section>
        <p14:section name="02 Getting Started" id="{EED08255-1DB1-424C-8915-D1F7A6B1FFF2}">
          <p14:sldIdLst>
            <p14:sldId id="267"/>
            <p14:sldId id="268"/>
            <p14:sldId id="269"/>
            <p14:sldId id="270"/>
            <p14:sldId id="272"/>
            <p14:sldId id="271"/>
            <p14:sldId id="273"/>
          </p14:sldIdLst>
        </p14:section>
        <p14:section name="03 Special Objects" id="{904D7B9D-F8FB-49F6-A0DA-830993B5A48B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99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04 Customization" id="{967B86E5-6E65-4AF3-9737-09DBC611A63D}">
          <p14:sldIdLst>
            <p14:sldId id="300"/>
            <p14:sldId id="26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8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358" autoAdjust="0"/>
    <p:restoredTop sz="94706" autoAdjust="0"/>
  </p:normalViewPr>
  <p:slideViewPr>
    <p:cSldViewPr showGuides="1">
      <p:cViewPr varScale="1">
        <p:scale>
          <a:sx n="46" d="100"/>
          <a:sy n="46" d="100"/>
        </p:scale>
        <p:origin x="48" y="1338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84" d="100"/>
          <a:sy n="84" d="100"/>
        </p:scale>
        <p:origin x="382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E221E-83ED-4F6C-BA5F-3F9E6FDB6953}" type="datetimeFigureOut">
              <a:rPr lang="en-US"/>
              <a:t>3/12/2025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CBEF8-5CDE-472B-839B-B8BB0C8810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2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53E5F-CE67-483C-A264-F17AC70E9CA2}" type="datetimeFigureOut">
              <a:rPr lang="en-US"/>
              <a:t>3/12/2025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98AFB-CB0D-4DFE-87B9-B4B0D0DE73C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80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5214" y="533400"/>
            <a:ext cx="5029200" cy="251460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5212" y="3403600"/>
            <a:ext cx="5029201" cy="1397000"/>
          </a:xfrm>
        </p:spPr>
        <p:txBody>
          <a:bodyPr>
            <a:normAutofit/>
          </a:bodyPr>
          <a:lstStyle>
            <a:lvl1pPr marL="0" indent="0" algn="l">
              <a:spcBef>
                <a:spcPts val="600"/>
              </a:spcBef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FA9E5-6744-4841-888F-9E7CC0C2B7EC}" type="datetimeFigureOut">
              <a:rPr lang="en-US"/>
              <a:t>3/12/2025</a:t>
            </a:fld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647520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FA9E5-6744-4841-888F-9E7CC0C2B7EC}" type="datetimeFigureOut">
              <a:rPr lang="en-US"/>
              <a:t>3/12/2025</a:t>
            </a:fld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29153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4" y="533400"/>
            <a:ext cx="8686800" cy="2286000"/>
          </a:xfrm>
        </p:spPr>
        <p:txBody>
          <a:bodyPr anchor="b">
            <a:normAutofit/>
          </a:bodyPr>
          <a:lstStyle>
            <a:lvl1pPr algn="l">
              <a:defRPr sz="5400" b="1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3124200"/>
            <a:ext cx="8686800" cy="1371600"/>
          </a:xfrm>
        </p:spPr>
        <p:txBody>
          <a:bodyPr anchor="t">
            <a:normAutofit/>
          </a:bodyPr>
          <a:lstStyle>
            <a:lvl1pPr marL="0" indent="0">
              <a:spcBef>
                <a:spcPts val="600"/>
              </a:spcBef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FA9E5-6744-4841-888F-9E7CC0C2B7EC}" type="datetimeFigureOut">
              <a:rPr lang="en-US"/>
              <a:t>3/12/2025</a:t>
            </a:fld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01331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8800"/>
            <a:ext cx="4251960" cy="4191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64598" y="1828800"/>
            <a:ext cx="4251960" cy="4191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FA9E5-6744-4841-888F-9E7CC0C2B7EC}" type="datetimeFigureOut">
              <a:rPr lang="en-US"/>
              <a:t>3/12/2025</a:t>
            </a:fld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13709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3" y="1828799"/>
            <a:ext cx="4251960" cy="685801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5213" y="2590800"/>
            <a:ext cx="4251960" cy="3429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500053" y="1828799"/>
            <a:ext cx="4251960" cy="685801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00053" y="2590800"/>
            <a:ext cx="4251960" cy="3429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FA9E5-6744-4841-888F-9E7CC0C2B7EC}" type="datetimeFigureOut">
              <a:rPr lang="en-US"/>
              <a:t>3/12/2025</a:t>
            </a:fld>
            <a:endParaRPr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00784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FA9E5-6744-4841-888F-9E7CC0C2B7EC}" type="datetimeFigureOut">
              <a:rPr lang="en-US"/>
              <a:t>3/12/2025</a:t>
            </a:fld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07158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  <a:endParaRPr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FA9E5-6744-4841-888F-9E7CC0C2B7EC}" type="datetimeFigureOut">
              <a:rPr lang="en-US"/>
              <a:t>3/12/2025</a:t>
            </a:fld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415315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3" y="533400"/>
            <a:ext cx="4114800" cy="1524000"/>
          </a:xfrm>
        </p:spPr>
        <p:txBody>
          <a:bodyPr anchor="b">
            <a:normAutofit/>
          </a:bodyPr>
          <a:lstStyle>
            <a:lvl1pPr algn="l">
              <a:defRPr sz="3600" b="1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65813" y="533400"/>
            <a:ext cx="5867400" cy="5486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5213" y="2209800"/>
            <a:ext cx="4114800" cy="38100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600"/>
              </a:spcBef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FA9E5-6744-4841-888F-9E7CC0C2B7EC}" type="datetimeFigureOut">
              <a:rPr lang="en-US"/>
              <a:t>3/12/2025</a:t>
            </a:fld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01711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3" y="533400"/>
            <a:ext cx="4114800" cy="1524000"/>
          </a:xfrm>
        </p:spPr>
        <p:txBody>
          <a:bodyPr anchor="b">
            <a:noAutofit/>
          </a:bodyPr>
          <a:lstStyle>
            <a:lvl1pPr algn="l">
              <a:defRPr sz="3600" b="1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 descr="An empty placeholder to add an image. Click on the placeholder and select the image that you wish to add"/>
          <p:cNvSpPr>
            <a:spLocks noGrp="1"/>
          </p:cNvSpPr>
          <p:nvPr>
            <p:ph type="pic" idx="1"/>
          </p:nvPr>
        </p:nvSpPr>
        <p:spPr>
          <a:xfrm>
            <a:off x="5865812" y="533400"/>
            <a:ext cx="5780173" cy="5791200"/>
          </a:xfrm>
          <a:ln w="50800">
            <a:solidFill>
              <a:schemeClr val="tx1">
                <a:lumMod val="65000"/>
                <a:lumOff val="3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5213" y="2209800"/>
            <a:ext cx="4114800" cy="38100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19608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FA9E5-6744-4841-888F-9E7CC0C2B7EC}" type="datetimeFigureOut">
              <a:rPr lang="en-US"/>
              <a:t>3/12/2025</a:t>
            </a:fld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68093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61412" y="533400"/>
            <a:ext cx="2362201" cy="5486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5213" y="533400"/>
            <a:ext cx="7467599" cy="5486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FA9E5-6744-4841-888F-9E7CC0C2B7EC}" type="datetimeFigureOut">
              <a:rPr lang="en-US"/>
              <a:t>3/12/2025</a:t>
            </a:fld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8244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533400"/>
            <a:ext cx="8686801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2" y="1828800"/>
            <a:ext cx="8686801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5213" y="6155267"/>
            <a:ext cx="5653087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2612" y="6155267"/>
            <a:ext cx="1371600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3E0FA9E5-6744-4841-888F-9E7CC0C2B7EC}" type="datetimeFigureOut">
              <a:rPr lang="en-US" smtClean="0"/>
              <a:pPr/>
              <a:t>3/12/2025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2812" y="6155267"/>
            <a:ext cx="1219201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7054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7724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96012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097280" indent="-13716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23444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37160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50876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64592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39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7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5214" y="942627"/>
            <a:ext cx="5029200" cy="886173"/>
          </a:xfrm>
        </p:spPr>
        <p:txBody>
          <a:bodyPr/>
          <a:lstStyle/>
          <a:p>
            <a:r>
              <a:rPr lang="en-US" dirty="0"/>
              <a:t>D2 Tutorial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5214" y="1785027"/>
            <a:ext cx="6019800" cy="661480"/>
          </a:xfrm>
        </p:spPr>
        <p:txBody>
          <a:bodyPr>
            <a:normAutofit/>
          </a:bodyPr>
          <a:lstStyle/>
          <a:p>
            <a:r>
              <a:rPr lang="en-US" sz="3600" dirty="0"/>
              <a:t>Opening and Introduction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55A71C4-1ED9-F5C6-8DD1-B043C6D510F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828800" cy="11430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7200" dirty="0"/>
              <a:t>001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D63B3A-A789-7945-9AA8-3639883EB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612" y="2490281"/>
            <a:ext cx="9164661" cy="39341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59CF11D-89AC-914B-5DB2-AD84104EAE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012" y="519021"/>
            <a:ext cx="4564338" cy="18195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93259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D2 Introduction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3C6D4B4-A3A4-D7C2-8F1F-8453BAD4F5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FC4018B-8742-AF41-46E6-74A888E3EFA6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106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002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7FAC0FE-74DC-4812-B1D4-E7D20532D0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clrChange>
              <a:clrFrom>
                <a:srgbClr val="F5F5DC"/>
              </a:clrFrom>
              <a:clrTo>
                <a:srgbClr val="F5F5DC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00200" y="990600"/>
            <a:ext cx="9144000" cy="5545954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BD47E31-7F79-A291-22D5-357A285AEC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7212" y="2576208"/>
            <a:ext cx="2010056" cy="42299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37231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A024F-A5F8-AA6B-2FCF-E8E1EA803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C9E6657E-118A-C800-BBFB-56880D5A6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D2 and Make it Work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4A55EEC-DDB4-7B09-55C9-E75F2E7E4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02FDFEB-62DA-327C-D016-D2242D07B053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106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003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B303225-E915-701D-0BA9-D92939331C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65212" y="1596227"/>
            <a:ext cx="9296399" cy="43696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256EDB3-FFE7-83B1-C3AC-9D42F292C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9706" y="2913867"/>
            <a:ext cx="1201905" cy="35814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14865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0BD14-DBF0-5D31-B887-703B87AC3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E95CE16B-665A-1966-6425-4DD0E3D7B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Make your First D2 Diagram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152BA7-B51A-FCE7-4583-C914C0D0DA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CED7FC5-515C-5974-DE14-7D65C38569B2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106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004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6241548-1AA5-9556-E6D1-C1B124A48D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84657" y="1828800"/>
            <a:ext cx="8247912" cy="4191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B5C329A-0062-C81F-4C17-1A168BC3A8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8612" y="2514600"/>
            <a:ext cx="2010056" cy="42299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830415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0B572-24A5-67FB-CEAC-2FBDFC2F4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F72A51F5-7CD0-E4AD-D1F4-4E1F8BC6D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Getting Started: Shapes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AAF5C1-A6C4-3B79-C18B-179EFB216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9E2FCACB-0EC7-1DBE-50DD-F533D453A368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106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005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FD687FA-33C8-31F1-B155-3566E42ED7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79323" y="1828800"/>
            <a:ext cx="8658580" cy="4191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83127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B3005-B25A-19D8-44CD-A97B9771E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0DD87F6-4439-F286-C4EA-942ACA241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Getting Started: Connections - 1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184234-DDB2-3A34-FD15-633D449CE8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CE69637E-C18D-E8F6-65D4-1156C1D7A784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106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006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0A6B56A-D3F1-F201-E7D3-B18650DC7F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19" y="1757245"/>
            <a:ext cx="9236951" cy="45182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2D402D8-7643-DA96-585B-7D84EDBDB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5412" y="4728012"/>
            <a:ext cx="5408613" cy="15207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2311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A2F8B-B651-FD7B-8D7D-20D24FC0F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C812EB6B-4162-6D7F-B38E-79B53DF0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Getting Started: Connections - 2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4DFBF0-A179-1440-61AD-4170DEF2FF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E65EAF8-D70A-2A64-FFB7-0011AB2B16E8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106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007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164C479-C365-018B-AFDC-8FE4AFBC04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4660" y="1828799"/>
            <a:ext cx="9236951" cy="45182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0ECC054-0D5F-5EDC-7547-BACFF96B2B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5612" y="2513831"/>
            <a:ext cx="3627022" cy="31242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76658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D042B-D18C-A4CB-93B6-1D9505D8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C8158982-5F04-4475-81AE-BA02A002B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Getting Started: Containers - 1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001F2B-DE73-1D2A-B0B5-8A5B0EE57B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68CDF687-BF53-2547-7FF8-C5F48DCBBD93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106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008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5EE62970-FBD8-7DA8-8E36-974247CE94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19" y="1604479"/>
            <a:ext cx="8545194" cy="50028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91403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EA360-B041-8C73-3EB3-797FE9406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767A4F13-1A8A-69D6-2849-C6686DBDC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Getting Started: Containers - 2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CD48A9-DFED-F97E-1697-1D12B6F5C7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338D3B16-E878-2A69-27FF-F0CD972B4BCC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106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009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1AB8D3B-D0B4-D4E4-0668-3F8FA4B62F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70012" y="1630980"/>
            <a:ext cx="8382001" cy="49463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1403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CE2C4-A7A3-5265-1F8B-FFA8EB8BD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3184395-ACD6-A02C-B08B-6ACC45EF2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363200" cy="1066800"/>
          </a:xfrm>
        </p:spPr>
        <p:txBody>
          <a:bodyPr>
            <a:normAutofit/>
          </a:bodyPr>
          <a:lstStyle/>
          <a:p>
            <a:r>
              <a:rPr lang="en-US" sz="4800" dirty="0"/>
              <a:t>3. </a:t>
            </a:r>
            <a:r>
              <a:rPr lang="en-US" altLang="zh-CN" sz="4800" dirty="0"/>
              <a:t>Special Objects: 3.1 Text &amp; Code (1)</a:t>
            </a:r>
            <a:endParaRPr lang="en-US" sz="4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50C307-99BB-9E88-6151-934E6CC25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6E1D037E-AF30-C7D4-0D4E-C8B8A5C97574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010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CE8527E-B412-2472-2CB7-EFB57E815E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19" y="1600200"/>
            <a:ext cx="8967006" cy="49666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798DA7F-F4DB-8026-19F0-6FF9129D49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3212" y="2653380"/>
            <a:ext cx="3312244" cy="42046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3073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07293-C189-2EB1-7852-1B58FA0E8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5D5A2751-1AEB-B57D-864A-8C281DBC6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134600" cy="1066800"/>
          </a:xfrm>
        </p:spPr>
        <p:txBody>
          <a:bodyPr>
            <a:normAutofit/>
          </a:bodyPr>
          <a:lstStyle/>
          <a:p>
            <a:r>
              <a:rPr lang="en-US" sz="4800" dirty="0"/>
              <a:t>3. </a:t>
            </a:r>
            <a:r>
              <a:rPr lang="en-US" altLang="zh-CN" sz="4800" dirty="0"/>
              <a:t>Special Objects: 3.1 Text &amp; Code (2)</a:t>
            </a:r>
            <a:endParaRPr lang="en-US" sz="4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651C183-AE9E-883D-8EF4-D63AC39FF7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9014376-6211-7E22-2C15-C9DBF4EDBE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70012" y="1600201"/>
            <a:ext cx="8460718" cy="50430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20152D3-D970-25D3-C248-DBC49D9CD0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2412" y="3124200"/>
            <a:ext cx="2574098" cy="36246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A41BCE65-2470-97FE-7244-B16C3652204A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011</a:t>
            </a:r>
          </a:p>
        </p:txBody>
      </p:sp>
    </p:spTree>
    <p:extLst>
      <p:ext uri="{BB962C8B-B14F-4D97-AF65-F5344CB8AC3E}">
        <p14:creationId xmlns:p14="http://schemas.microsoft.com/office/powerpoint/2010/main" val="2387406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E1982-344A-F49D-94A1-15D080DE4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91199468-30E5-2AFA-6FE2-E6653317A2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287000" cy="1066800"/>
          </a:xfrm>
        </p:spPr>
        <p:txBody>
          <a:bodyPr>
            <a:normAutofit/>
          </a:bodyPr>
          <a:lstStyle/>
          <a:p>
            <a:r>
              <a:rPr lang="en-US" sz="4800" dirty="0"/>
              <a:t>3. </a:t>
            </a:r>
            <a:r>
              <a:rPr lang="en-US" altLang="zh-CN" sz="4800" dirty="0"/>
              <a:t>Special Objects: 3.1 Text &amp; Code (3)</a:t>
            </a:r>
            <a:endParaRPr lang="en-US" sz="4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539312-24AD-AA99-70C6-E952DD0F6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D724A54-37F4-0D9F-B92A-E5A61A9FD2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88046" y="1717417"/>
            <a:ext cx="8540166" cy="50477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CF63E04-4325-D9E3-ED37-D5D67A24E1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069" y="4038600"/>
            <a:ext cx="3685888" cy="20833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072F2461-5BF3-428F-E528-DF2F57BB8895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012</a:t>
            </a:r>
          </a:p>
        </p:txBody>
      </p:sp>
    </p:spTree>
    <p:extLst>
      <p:ext uri="{BB962C8B-B14F-4D97-AF65-F5344CB8AC3E}">
        <p14:creationId xmlns:p14="http://schemas.microsoft.com/office/powerpoint/2010/main" val="2048579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96ED0-8E70-AB0D-C125-13E448CA0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533F29B3-A455-496D-F44C-88272F8C6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3. </a:t>
            </a:r>
            <a:r>
              <a:rPr lang="en-US" altLang="zh-CN" sz="4800" dirty="0"/>
              <a:t>Special Objects: 3.2 Icons &amp; Images (1)</a:t>
            </a:r>
            <a:endParaRPr lang="en-US" sz="4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775141-0371-8D32-2360-FB5041803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EB8FAE-C049-D0B4-8F89-4FE830EC0782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013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2FB9242-0863-06B2-CDA8-7BB5C24A99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62290" y="1709657"/>
            <a:ext cx="9351722" cy="46149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98048D8-73B8-1F39-0DC3-C622BC4C93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559" y="3914519"/>
            <a:ext cx="2649133" cy="29434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775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65546-C5EC-C9BB-5D0A-567DB664C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500A2E5-BEAE-F976-B6BD-EAF4B22DC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3. </a:t>
            </a:r>
            <a:r>
              <a:rPr lang="en-US" altLang="zh-CN" sz="4800" dirty="0"/>
              <a:t>Special Objects: 3.2 Icons &amp; Images (2)</a:t>
            </a:r>
            <a:endParaRPr lang="en-US" sz="4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B84D60-62FB-CCAD-1B68-3E68B15198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F6F866-5D57-3BBE-5BBA-2399C4AE34D1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014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0DC3D28-173C-E7D5-A572-B5755BDD96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62422" y="1636241"/>
            <a:ext cx="9861190" cy="49838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2630DB5-C00B-7142-BD38-D1731AC555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3017" y="4135465"/>
            <a:ext cx="5548959" cy="252069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95708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26008-E5A0-DD0B-B10B-6C4080DF5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C5B850E9-281A-0433-08F1-98FEE1738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rmAutofit/>
          </a:bodyPr>
          <a:lstStyle/>
          <a:p>
            <a:r>
              <a:rPr lang="en-US" sz="4800" dirty="0"/>
              <a:t>3. </a:t>
            </a:r>
            <a:r>
              <a:rPr lang="en-US" altLang="zh-CN" sz="4800" dirty="0"/>
              <a:t>Special Objects: 3.3 SQL Tables (1)</a:t>
            </a:r>
            <a:endParaRPr lang="en-US" sz="48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B90CDB-05D1-A10E-B3D9-18D19A153704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015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9E9CA1F6-A4DC-E1E2-A254-F5274AE5C4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6212" y="1676400"/>
            <a:ext cx="8505568" cy="49051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2EED875-2A4A-F773-205C-DBB1D6AF4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202005"/>
            <a:ext cx="1674812" cy="16559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18DEFFD-74CC-9292-46F8-42E714046E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5012" y="3804764"/>
            <a:ext cx="3773673" cy="291499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527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84D32-9F04-2ACD-20EC-61F08441C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C9550ED-8AC2-3B9F-8CAC-62E2EF131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rmAutofit/>
          </a:bodyPr>
          <a:lstStyle/>
          <a:p>
            <a:r>
              <a:rPr lang="en-US" sz="4800" dirty="0"/>
              <a:t>3. </a:t>
            </a:r>
            <a:r>
              <a:rPr lang="en-US" altLang="zh-CN" sz="4800" dirty="0"/>
              <a:t>Special Objects: 3.3 SQL Tables (2)</a:t>
            </a:r>
            <a:endParaRPr lang="en-US" sz="4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34C6B9-9AE6-A0AD-A765-AB12DFD5F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A94A151-38FC-DBBB-31DC-447E5DFE388F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016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ABDA3F7-DFA5-E054-07B1-A2A667B4EC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92410" y="1695495"/>
            <a:ext cx="8383402" cy="488865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51A7229-7622-3238-EC99-AE89620871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8696" y="1369243"/>
            <a:ext cx="3090107" cy="27682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6351145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33ECB-7B16-9083-2F25-E9E8BC74D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54ACBCF9-F29D-7741-B9B0-6CC6F2E51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rmAutofit/>
          </a:bodyPr>
          <a:lstStyle/>
          <a:p>
            <a:r>
              <a:rPr lang="en-US" sz="4800" dirty="0"/>
              <a:t>3. </a:t>
            </a:r>
            <a:r>
              <a:rPr lang="en-US" altLang="zh-CN" sz="4800" dirty="0"/>
              <a:t>Special Objects: 3.4 UML Classes (1)</a:t>
            </a:r>
            <a:endParaRPr lang="en-US" sz="4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94C38D-BDCA-1C21-0F67-88A0A1F9C6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1C6E82-38AD-9EDE-EF60-65F563B77BBA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017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0E2B2DB-A440-49A7-2E21-F289012C0D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48013" y="1828800"/>
            <a:ext cx="8937399" cy="46122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8B7CB6A-7621-E66C-4873-30FF1B7DE3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212" y="1927004"/>
            <a:ext cx="2895978" cy="36234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15738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84FCA-E9CA-DBA4-6915-724903406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39218C7C-59A0-61F9-4858-827BE2773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rmAutofit/>
          </a:bodyPr>
          <a:lstStyle/>
          <a:p>
            <a:r>
              <a:rPr lang="en-US" sz="4800" dirty="0"/>
              <a:t>3. </a:t>
            </a:r>
            <a:r>
              <a:rPr lang="en-US" altLang="zh-CN" sz="4800" dirty="0"/>
              <a:t>Special Objects: 3.4 UML Classes (2)</a:t>
            </a:r>
            <a:endParaRPr lang="en-US" sz="4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D69D76D-A2E6-53CD-43D4-CF5DD6EFD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A530802-0549-2717-4546-952FF03BDA9A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018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1EEA42D-F3E3-FD74-BB1B-853D7B494F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57556" y="1828800"/>
            <a:ext cx="9509693" cy="4800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CD472EE-D876-F38D-4F17-71099201F6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3450" y="1295400"/>
            <a:ext cx="2808762" cy="30061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71757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72259-528A-13BF-5084-4B7524C82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EC708D0-F852-E40F-F6B7-ABD03A755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3.5 Sequence Diagrams (1)</a:t>
            </a:r>
            <a:endParaRPr lang="en-US" sz="4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772535-F161-32A8-D9A0-AC25EBBFE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DCDBA8-B8BE-93A3-E6D1-CA2933D7E8D2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019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F95BCA3-DD84-A49E-85C5-95D083763A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93812" y="1606659"/>
            <a:ext cx="8763000" cy="51092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9C80973-6626-BF63-E791-7C0276215B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1016" y="1342823"/>
            <a:ext cx="2922196" cy="491854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43865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228A3-1F34-EAD1-2B69-D53797B68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E2CF8AB2-8675-3A90-2FD5-E52CDC00C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3.5 Sequence Diagrams (2)</a:t>
            </a:r>
            <a:endParaRPr lang="en-US" sz="4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99E477E-E10A-67FC-0448-0F8A5DF56A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959C81B-2460-AB4A-1B81-21D27582FAB3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020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2D96E3F-F7BA-1387-0A66-95354AA505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18" y="1560645"/>
            <a:ext cx="7630793" cy="50949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A5ECC39-E20C-4B67-008C-58FC8367D7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9412" y="1295400"/>
            <a:ext cx="3266625" cy="293938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215952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09D45-C0BF-B3F2-B486-C9C66169C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01E45700-2B1F-27AA-542F-4FDDB7362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3.5 Sequence Diagrams (3)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0E25F0-B420-A46A-D526-A6EECB908065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021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6106355-13E5-7116-1B35-B72A929447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5212" y="1656802"/>
            <a:ext cx="8991600" cy="507394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79F9D5D-042D-E158-0A71-B3C673335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8482890-0EFD-99EA-2ED5-8CEC5D88A1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1576" y="1295400"/>
            <a:ext cx="2711636" cy="485289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91334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F2C74-8A29-30B4-AB74-20038356F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3F458DB9-2468-F747-A278-575429012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3.5 Sequence Diagrams (4)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C46A84-8558-D377-7FCE-4722D68F5B5F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29D678-3DAC-666E-9BEF-25E08B0786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2CED15A-0B28-F49D-EABE-70B4EFEF98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20" y="1653666"/>
            <a:ext cx="8926192" cy="51288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B7BB572-C259-2EE6-E1E5-1844719550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0820" y="1104900"/>
            <a:ext cx="2692392" cy="431921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7991009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98583-053E-775F-9F9B-4E0BB6BD2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CFA8019E-908E-3227-905F-10BFCDC4E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3.5 Sequence Diagrams (5)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53A6A1-1C3B-590F-2201-8695E4FA7CAE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7D9B1C-C47E-F0F6-2285-3FDD63405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FA4A7DC-2FC5-6F88-5A79-FF6272561D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19" y="1608463"/>
            <a:ext cx="8849993" cy="51180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7908756-A98E-7082-7472-2255D98B22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5612" y="1066800"/>
            <a:ext cx="3364367" cy="42672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88039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961C1-78E1-D509-7D2E-2F829C70A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AB57C6C-8CDD-96AC-D793-9C821B2EC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3.5 Sequence Diagrams (6)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D46FB1-D3F1-51C6-EA03-2743B6F4385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024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B6B5C17-1CC2-9903-676C-37F2D15AC6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B27349F-55A7-8CBD-F2DC-61EFF3D334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19" y="1608463"/>
            <a:ext cx="8849993" cy="51180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42FF5E-AA18-0A03-EF66-BEDC8FD0F6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0812" y="1191553"/>
            <a:ext cx="4151358" cy="37147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2431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6E748-082E-F4C1-8913-13BD4C5CC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E7DE33E6-0D4F-E90B-805F-FF87B9F24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3.6 Grid Diagrams (1)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883AED-8FE9-4242-C77B-9FFCC7714834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025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2F7AC6-A498-5AE2-44B1-45BED1324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A9105F6-3D44-8B93-EDD7-9364102C20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93812" y="1624066"/>
            <a:ext cx="8610600" cy="50605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278C9AF-AC4D-ED8E-2005-70602AFA9D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1532" y="1447800"/>
            <a:ext cx="5801680" cy="234342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6975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87EE5C-DFF9-EA5D-57D7-769D78187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AED3943-818D-F34E-3C91-B575433C4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3.6 Grid Diagrams (2)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F203DB-7D32-6FC7-B71B-4A1384EF6827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105DF3-9A15-C631-E00F-26E1BA1B1D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F33CE3F-69D8-2CCF-0F39-DA8919336A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18" y="1828799"/>
            <a:ext cx="8468993" cy="48016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753EFA7-641C-4D79-2837-40637DCE16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3450" y="1600200"/>
            <a:ext cx="4564724" cy="28673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998125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8C985-EF61-0340-99E3-5862C2064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CA929F34-F6F4-541E-9F64-FAB876080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3.6 Grid Diagrams (3)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F59345-754B-A7A1-61FA-9A3318FB6981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027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2CCF18-1416-2C44-C750-0AB545C7C2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5BB87CA-2526-00E7-6A48-0B7F3187E3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19" y="1655935"/>
            <a:ext cx="9002393" cy="51056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8DFB231-E278-9451-EF6C-02F1F02674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9412" y="1371600"/>
            <a:ext cx="3560444" cy="33960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11892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2D54B-ADEE-51A5-6D95-D6FE39BC4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26391BFD-AC6C-4DD0-23C9-3F68808BD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3.6 Grid Diagrams (4)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E6DC22-57F0-3298-87D4-678AF6685415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028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689EB1-0904-0871-89F2-642BBEA88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B72E192-DECB-4D37-DC6B-DB4DD20A9D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70012" y="1828800"/>
            <a:ext cx="9906000" cy="4800600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E8393AE-89B1-9996-9FDE-689E55B32F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9574" y="2057400"/>
            <a:ext cx="5153638" cy="25244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36240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F0859-1F26-B0DD-EE91-5C3888AD1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8DAA249-A40F-2F74-B68E-D2A4F8C5F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3.6 Grid Diagrams (5)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7B3320-48F0-357D-BE40-4436791BC7A7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029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10A11B-8A7D-1474-F100-487913381D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0D6E63E-F4C7-8667-DF0D-2485573B19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19" y="1600200"/>
            <a:ext cx="9992993" cy="5181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4F876AC-48A8-7545-0B1F-ED077402CE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5499" y="1304735"/>
            <a:ext cx="9231013" cy="272453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790793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E8C86-2B15-7241-7CC8-E39CFC43F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BAA6F72-8E9C-76E9-59A2-F99AFAE8B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3.6 Grid Diagrams (6)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E98F9A-7814-01B5-2E53-24127334520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030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93FC6D-C2FA-444A-3B6B-B64FAA198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94842CA-ACD7-D535-5ADE-3AFDC379FD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20" y="1678908"/>
            <a:ext cx="10221592" cy="50266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E08769-8A20-2837-A6FB-69A45EE024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9079" y="1678908"/>
            <a:ext cx="6454319" cy="28930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949346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7C9D3-E87F-78F8-15D4-7CA98DDD6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A69623D4-4DD5-4176-1B35-EDA209D0F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3.6 Grid Diagrams (7)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0E5982-D86F-A4EF-992E-BB5D269275A5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031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63A914D-7925-975A-525B-5D76F656A4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AC1FAF5-141B-21E8-40D6-CB05D089C4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19" y="1676400"/>
            <a:ext cx="9916793" cy="5029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066E4E0-803C-2A2F-6F35-7C592BB513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0812" y="1295400"/>
            <a:ext cx="7887801" cy="31246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45051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0A4D5-D1EC-82B8-6BA3-C2B167AC4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37FFBE8-6937-567B-9A02-16953F109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3.6 Grid Diagrams (8)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1BEA98-1A81-7441-911E-F3767FBF767C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032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C4B742-E398-1152-6136-7C1DCADB01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CE1111D-4B63-ED7D-F0B0-32F41F54C5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19" y="1828800"/>
            <a:ext cx="9383393" cy="47244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C8E3E49-716E-03D4-BAF9-61FE7CC8E8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8411" y="1295400"/>
            <a:ext cx="4125359" cy="37338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94116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0C3B8-1CE5-D8E6-D113-7D8278494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6F4C57D-6D90-36D6-D745-474C26855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3.6 Grid Diagrams (9)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CBFF86-58AD-BEBF-35D5-C321F11BA176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033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D2FFF6-B73D-56A3-7CD0-C9900C87B9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5DB15DD-5E93-0F82-F4E6-64B261D137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19" y="1828800"/>
            <a:ext cx="8617492" cy="48768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8D3F8D6-C6E9-5812-E39A-C8E73A53F3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7208" y="1143000"/>
            <a:ext cx="5413466" cy="40857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09106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D783B-098E-4448-6AE5-7372D9F96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DE968C3-6991-DADE-81CE-667C4014C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3.6 Grid Diagrams (10)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F7CF84-ED5E-AB16-4727-4642A552010E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034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F5B729-2FB5-C321-5BB8-BF7A15BBE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86214BE-3807-87E1-6432-83B0D4D550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93812" y="1745235"/>
            <a:ext cx="8839200" cy="48467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46376E9-6724-1DC4-2224-62DCAC4A3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4366" y="1066800"/>
            <a:ext cx="2838846" cy="499179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020073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BDFD2-E936-0DC0-4530-7217DB3E7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8DE46899-28FE-604F-E7B7-B091D21F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3.6 Grid Diagrams (11)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F203E2-480B-76D1-AF57-EB110FAFE060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035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E15941-0FBB-EAAA-C9B9-AD1B7B911C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8DD768B-CF52-CF7C-B873-4DDCB8D58D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93812" y="1600201"/>
            <a:ext cx="8777640" cy="5071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69FBBC9-302B-0371-BA75-5824D756F6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6625" y="1066800"/>
            <a:ext cx="5655187" cy="39314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2527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11E1B-DDD8-6AB1-46E6-3D2E0DF20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883B81DC-1316-C00D-6F7A-76239ABEE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4. </a:t>
            </a:r>
            <a:r>
              <a:rPr lang="en-US" altLang="zh-CN" sz="4000" dirty="0"/>
              <a:t>Customization: 4.1 Themes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5C893A-2B99-0C78-A373-351C3A35A9DC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036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68F1F6-3C84-F60B-59EC-1ED2CEDE52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360D395-F78D-78CD-42B7-6FB69763E8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38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6EC8F-A1D7-9DB5-DDB1-EBD89A7FE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C15F91F7-D5CF-43A6-CB95-C4F696BDC0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612" y="0"/>
            <a:ext cx="10384837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C3FA810-85A3-B8A7-A696-5241AB1183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54893">
            <a:off x="4872836" y="1426803"/>
            <a:ext cx="4192810" cy="4004392"/>
          </a:xfrm>
          <a:prstGeom prst="rect">
            <a:avLst/>
          </a:prstGeom>
          <a:scene3d>
            <a:camera prst="isometricOffAxis2Left"/>
            <a:lightRig rig="threePt" dir="t"/>
          </a:scene3d>
        </p:spPr>
      </p:pic>
      <p:pic>
        <p:nvPicPr>
          <p:cNvPr id="1026" name="Picture 2" descr="Terrastruct | Plugins">
            <a:extLst>
              <a:ext uri="{FF2B5EF4-FFF2-40B4-BE49-F238E27FC236}">
                <a16:creationId xmlns:a16="http://schemas.microsoft.com/office/drawing/2014/main" id="{943AB935-54F4-1BA0-5298-3D6A62613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577" y="1295400"/>
            <a:ext cx="44450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CEAFE43-52AC-F762-C45F-7EBF850B78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2212" y="2438400"/>
            <a:ext cx="2286000" cy="22603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15678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Business Contrast 16x9">
  <a:themeElements>
    <a:clrScheme name="BusinessContrast">
      <a:dk1>
        <a:srgbClr val="000000"/>
      </a:dk1>
      <a:lt1>
        <a:sysClr val="window" lastClr="FFFFFF"/>
      </a:lt1>
      <a:dk2>
        <a:srgbClr val="000000"/>
      </a:dk2>
      <a:lt2>
        <a:srgbClr val="E5E8E8"/>
      </a:lt2>
      <a:accent1>
        <a:srgbClr val="00AEEF"/>
      </a:accent1>
      <a:accent2>
        <a:srgbClr val="EA428A"/>
      </a:accent2>
      <a:accent3>
        <a:srgbClr val="EED500"/>
      </a:accent3>
      <a:accent4>
        <a:srgbClr val="F5A70D"/>
      </a:accent4>
      <a:accent5>
        <a:srgbClr val="8BCB30"/>
      </a:accent5>
      <a:accent6>
        <a:srgbClr val="9962C1"/>
      </a:accent6>
      <a:hlink>
        <a:srgbClr val="00AEEF"/>
      </a:hlink>
      <a:folHlink>
        <a:srgbClr val="9962C1"/>
      </a:folHlink>
    </a:clrScheme>
    <a:fontScheme name="Franklin Gothic Medium">
      <a:maj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DE3B9166-2E01-44C0-B213-4E36B4FF9306}" vid="{9FB243D3-233B-4EB4-BE37-C505132985D4}"/>
    </a:ext>
  </a:extLst>
</a:theme>
</file>

<file path=ppt/theme/theme2.xml><?xml version="1.0" encoding="utf-8"?>
<a:theme xmlns:a="http://schemas.openxmlformats.org/drawingml/2006/main" name="Office Theme">
  <a:themeElements>
    <a:clrScheme name="BusinessContrast">
      <a:dk1>
        <a:srgbClr val="000000"/>
      </a:dk1>
      <a:lt1>
        <a:sysClr val="window" lastClr="FFFFFF"/>
      </a:lt1>
      <a:dk2>
        <a:srgbClr val="000000"/>
      </a:dk2>
      <a:lt2>
        <a:srgbClr val="E5E8E8"/>
      </a:lt2>
      <a:accent1>
        <a:srgbClr val="00AEEF"/>
      </a:accent1>
      <a:accent2>
        <a:srgbClr val="EA428A"/>
      </a:accent2>
      <a:accent3>
        <a:srgbClr val="EED500"/>
      </a:accent3>
      <a:accent4>
        <a:srgbClr val="F5A70D"/>
      </a:accent4>
      <a:accent5>
        <a:srgbClr val="8BCB30"/>
      </a:accent5>
      <a:accent6>
        <a:srgbClr val="9962C1"/>
      </a:accent6>
      <a:hlink>
        <a:srgbClr val="00AEEF"/>
      </a:hlink>
      <a:folHlink>
        <a:srgbClr val="9962C1"/>
      </a:folHlink>
    </a:clrScheme>
    <a:fontScheme name="Franklin Gothic Medium">
      <a:maj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BusinessContrast">
      <a:dk1>
        <a:srgbClr val="000000"/>
      </a:dk1>
      <a:lt1>
        <a:sysClr val="window" lastClr="FFFFFF"/>
      </a:lt1>
      <a:dk2>
        <a:srgbClr val="000000"/>
      </a:dk2>
      <a:lt2>
        <a:srgbClr val="E5E8E8"/>
      </a:lt2>
      <a:accent1>
        <a:srgbClr val="00AEEF"/>
      </a:accent1>
      <a:accent2>
        <a:srgbClr val="EA428A"/>
      </a:accent2>
      <a:accent3>
        <a:srgbClr val="EED500"/>
      </a:accent3>
      <a:accent4>
        <a:srgbClr val="F5A70D"/>
      </a:accent4>
      <a:accent5>
        <a:srgbClr val="8BCB30"/>
      </a:accent5>
      <a:accent6>
        <a:srgbClr val="9962C1"/>
      </a:accent6>
      <a:hlink>
        <a:srgbClr val="00AEEF"/>
      </a:hlink>
      <a:folHlink>
        <a:srgbClr val="9962C1"/>
      </a:folHlink>
    </a:clrScheme>
    <a:fontScheme name="Franklin Gothic Medium">
      <a:maj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4CEB76F-5C52-4F69-A3C1-2DBEA8CF746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E7567CE-A543-444C-8597-EB227849112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A32D51B-405E-4F81-B5A9-F253CD7FC481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Business contrast presentation (widescreen)</Template>
  <TotalTime>3004</TotalTime>
  <Words>379</Words>
  <Application>Microsoft Office PowerPoint</Application>
  <PresentationFormat>Custom</PresentationFormat>
  <Paragraphs>73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Franklin Gothic Medium</vt:lpstr>
      <vt:lpstr>Business Contrast 16x9</vt:lpstr>
      <vt:lpstr>D2 Tutorial</vt:lpstr>
      <vt:lpstr>D2 Introduction</vt:lpstr>
      <vt:lpstr>Get D2 and Make it Work</vt:lpstr>
      <vt:lpstr>Make your First D2 Diagram</vt:lpstr>
      <vt:lpstr>Getting Started: Shapes</vt:lpstr>
      <vt:lpstr>Getting Started: Connections - 1</vt:lpstr>
      <vt:lpstr>Getting Started: Connections - 2</vt:lpstr>
      <vt:lpstr>Getting Started: Containers - 1</vt:lpstr>
      <vt:lpstr>Getting Started: Containers - 2</vt:lpstr>
      <vt:lpstr>3. Special Objects: 3.1 Text &amp; Code (1)</vt:lpstr>
      <vt:lpstr>3. Special Objects: 3.1 Text &amp; Code (2)</vt:lpstr>
      <vt:lpstr>3. Special Objects: 3.1 Text &amp; Code (3)</vt:lpstr>
      <vt:lpstr>3. Special Objects: 3.2 Icons &amp; Images (1)</vt:lpstr>
      <vt:lpstr>3. Special Objects: 3.2 Icons &amp; Images (2)</vt:lpstr>
      <vt:lpstr>3. Special Objects: 3.3 SQL Tables (1)</vt:lpstr>
      <vt:lpstr>3. Special Objects: 3.3 SQL Tables (2)</vt:lpstr>
      <vt:lpstr>3. Special Objects: 3.4 UML Classes (1)</vt:lpstr>
      <vt:lpstr>3. Special Objects: 3.4 UML Classes (2)</vt:lpstr>
      <vt:lpstr>3. Special Objects: 3.5 Sequence Diagrams (1)</vt:lpstr>
      <vt:lpstr>3. Special Objects: 3.5 Sequence Diagrams (2)</vt:lpstr>
      <vt:lpstr>3. Special Objects: 3.5 Sequence Diagrams (3)</vt:lpstr>
      <vt:lpstr>3. Special Objects: 3.5 Sequence Diagrams (4)</vt:lpstr>
      <vt:lpstr>3. Special Objects: 3.5 Sequence Diagrams (5)</vt:lpstr>
      <vt:lpstr>3. Special Objects: 3.5 Sequence Diagrams (6)</vt:lpstr>
      <vt:lpstr>3. Special Objects: 3.6 Grid Diagrams (1)</vt:lpstr>
      <vt:lpstr>3. Special Objects: 3.6 Grid Diagrams (2)</vt:lpstr>
      <vt:lpstr>3. Special Objects: 3.6 Grid Diagrams (3)</vt:lpstr>
      <vt:lpstr>3. Special Objects: 3.6 Grid Diagrams (4)</vt:lpstr>
      <vt:lpstr>3. Special Objects: 3.6 Grid Diagrams (5)</vt:lpstr>
      <vt:lpstr>3. Special Objects: 3.6 Grid Diagrams (6)</vt:lpstr>
      <vt:lpstr>3. Special Objects: 3.6 Grid Diagrams (7)</vt:lpstr>
      <vt:lpstr>3. Special Objects: 3.6 Grid Diagrams (8)</vt:lpstr>
      <vt:lpstr>3. Special Objects: 3.6 Grid Diagrams (9)</vt:lpstr>
      <vt:lpstr>3. Special Objects: 3.6 Grid Diagrams (10)</vt:lpstr>
      <vt:lpstr>3. Special Objects: 3.6 Grid Diagrams (11)</vt:lpstr>
      <vt:lpstr>4. Customization: 4.1 Themes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39</cp:revision>
  <dcterms:created xsi:type="dcterms:W3CDTF">2025-03-06T02:30:57Z</dcterms:created>
  <dcterms:modified xsi:type="dcterms:W3CDTF">2025-03-12T08:50:50Z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2025-03-06T02:31:06Z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abadb0e9-6164-4da2-9862-9d375625db21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